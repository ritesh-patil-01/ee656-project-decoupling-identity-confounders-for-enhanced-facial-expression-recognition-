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2230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22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DB-4731-AEBF-F41D397A6351}"/>
              </c:ext>
            </c:extLst>
          </c:dPt>
          <c:dPt>
            <c:idx val="1"/>
            <c:invertIfNegative val="0"/>
            <c:bubble3D val="0"/>
            <c:spPr>
              <a:solidFill>
                <a:srgbClr val="0E9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DB-4731-AEBF-F41D397A6351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DB-4731-AEBF-F41D397A635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230"/>
                    </a:solidFill>
                    <a:latin typeface="Cambr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DICE-FER
(paper)</c:v>
                </c:pt>
                <c:pt idx="1">
                  <c:v>DICE-FER
(ours)</c:v>
                </c:pt>
                <c:pt idx="2">
                  <c:v>ResNet-18
baseline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99.5</c:v>
                </c:pt>
                <c:pt idx="1">
                  <c:v>95.4</c:v>
                </c:pt>
                <c:pt idx="2">
                  <c:v>97.39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1DB-4731-AEBF-F41D397A63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36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MIG</c:v>
                </c:pt>
              </c:strCache>
            </c:strRef>
          </c:tx>
          <c:spPr>
            <a:solidFill>
              <a:srgbClr val="94A3B8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AC-43E4-AD5D-C6A1BEA45F04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AC-43E4-AD5D-C6A1BEA45F04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AC-43E4-AD5D-C6A1BEA45F04}"/>
              </c:ext>
            </c:extLst>
          </c:dPt>
          <c:dPt>
            <c:idx val="3"/>
            <c:invertIfNegative val="0"/>
            <c:bubble3D val="0"/>
            <c:spPr>
              <a:solidFill>
                <a:srgbClr val="1B22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AC-43E4-AD5D-C6A1BEA45F04}"/>
              </c:ext>
            </c:extLst>
          </c:dPt>
          <c:dPt>
            <c:idx val="4"/>
            <c:invertIfNegative val="0"/>
            <c:bubble3D val="0"/>
            <c:spPr>
              <a:solidFill>
                <a:srgbClr val="0E9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AC-43E4-AD5D-C6A1BEA45F04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230"/>
                    </a:solidFill>
                    <a:latin typeface="Cambr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TDGAN</c:v>
                </c:pt>
                <c:pt idx="1">
                  <c:v>Cross-VAE</c:v>
                </c:pt>
                <c:pt idx="2">
                  <c:v>AGILE</c:v>
                </c:pt>
                <c:pt idx="3">
                  <c:v>DICE-FER (paper)</c:v>
                </c:pt>
                <c:pt idx="4">
                  <c:v>DICE-FER (ours)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0.45400000000000001</c:v>
                </c:pt>
                <c:pt idx="1">
                  <c:v>0.49</c:v>
                </c:pt>
                <c:pt idx="2">
                  <c:v>0.58799999999999997</c:v>
                </c:pt>
                <c:pt idx="3">
                  <c:v>0.59199999999999997</c:v>
                </c:pt>
                <c:pt idx="4">
                  <c:v>0.58199999999999996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3AC-43E4-AD5D-C6A1BEA45F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36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D7DCE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1B223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C36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
model</c:v>
                </c:pt>
                <c:pt idx="1">
                  <c:v>No
swap</c:v>
                </c:pt>
                <c:pt idx="2">
                  <c:v>δ = 0
(no L₁)</c:v>
                </c:pt>
                <c:pt idx="3">
                  <c:v>μᵉˣᵖ = 0
(no global)</c:v>
                </c:pt>
                <c:pt idx="4">
                  <c:v>νᵉˣᵖ = 0
(no local)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99.5</c:v>
                </c:pt>
                <c:pt idx="1">
                  <c:v>93.45</c:v>
                </c:pt>
                <c:pt idx="2">
                  <c:v>98.75</c:v>
                </c:pt>
                <c:pt idx="3">
                  <c:v>97.3</c:v>
                </c:pt>
                <c:pt idx="4">
                  <c:v>96.8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E0-45EB-BF80-63225256A6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E9C8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C36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
model</c:v>
                </c:pt>
                <c:pt idx="1">
                  <c:v>No
swap</c:v>
                </c:pt>
                <c:pt idx="2">
                  <c:v>δ = 0
(no L₁)</c:v>
                </c:pt>
                <c:pt idx="3">
                  <c:v>μᵉˣᵖ = 0
(no global)</c:v>
                </c:pt>
                <c:pt idx="4">
                  <c:v>νᵉˣᵖ = 0
(no local)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95.4</c:v>
                </c:pt>
                <c:pt idx="1">
                  <c:v>87.1</c:v>
                </c:pt>
                <c:pt idx="2">
                  <c:v>93.05</c:v>
                </c:pt>
                <c:pt idx="3">
                  <c:v>92.65</c:v>
                </c:pt>
                <c:pt idx="4">
                  <c:v>92.8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E0-45EB-BF80-63225256A6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3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C36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C364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11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329184" cy="329184"/>
          </a:xfrm>
          <a:prstGeom prst="ellipse">
            <a:avLst/>
          </a:prstGeom>
          <a:solidFill>
            <a:srgbClr val="1B2230"/>
          </a:solidFill>
          <a:ln w="15875">
            <a:solidFill>
              <a:srgbClr val="0E9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0722" y="502920"/>
            <a:ext cx="329184" cy="329184"/>
          </a:xfrm>
          <a:prstGeom prst="ellipse">
            <a:avLst/>
          </a:prstGeom>
          <a:solidFill>
            <a:srgbClr val="1B2230"/>
          </a:solidFill>
          <a:ln w="15875">
            <a:solidFill>
              <a:srgbClr val="0E9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39319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600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DICE-FER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393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 · 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50164" y="12847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Decoupling Identity Confounders for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50164" y="2011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</a:t>
            </a:r>
            <a:r>
              <a:rPr lang="en-US" sz="36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Expression </a:t>
            </a:r>
            <a:r>
              <a:rPr lang="en-US" sz="36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 PyTorch reproduction of DICE-FER on CK+ extended — two-stage training, MINE-based mutual-information estimation, and adversarial identity disentanglement.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Patil   ·   Raj Choudhary   ·   Shivang Mishra   ·   Khushi Sharma   ·   Vineet Singh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330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EE656 — Deep Learning   ·   Indian Institute of Technology Kanpur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0372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852160" y="3703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on CK+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Identity Confounder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expression recognition breaks across unseen subjects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160520" cy="3154680"/>
          </a:xfrm>
          <a:prstGeom prst="roundRect">
            <a:avLst>
              <a:gd name="adj" fmla="val 2319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 and identity are entangled in pixel space.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images of the same expression on different subjects differ enormously in low-level statistics, while two different expressions on the same face share many of them. Standard discriminative training exploits identity-specific cues — skin texture, facial geometry, age — as shortcuts for predicting expression labels.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~99%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968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 CK+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35204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 drop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3968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unseen subjects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2040" y="132588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expression  ·  Exclusive identity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874520"/>
            <a:ext cx="1920240" cy="1920240"/>
          </a:xfrm>
          <a:prstGeom prst="ellipse">
            <a:avLst/>
          </a:prstGeom>
          <a:solidFill>
            <a:srgbClr val="1B2230">
              <a:alpha val="12000"/>
            </a:srgbClr>
          </a:solidFill>
          <a:ln w="19050">
            <a:solidFill>
              <a:srgbClr val="1B22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0246" y="1874520"/>
            <a:ext cx="1920240" cy="1920240"/>
          </a:xfrm>
          <a:prstGeom prst="ellipse">
            <a:avLst/>
          </a:prstGeom>
          <a:solidFill>
            <a:srgbClr val="0E9C8C">
              <a:alpha val="12000"/>
            </a:srgbClr>
          </a:solidFill>
          <a:ln w="19050">
            <a:solidFill>
              <a:srgbClr val="0E9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4234" y="2670048"/>
            <a:ext cx="10081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52360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   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Approaches to Identity Invariance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— DICE-FER takes the information-theoretic route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Learning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198424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loss · Adaptive cluster loss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2331720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the embedding space directly — tight class centres, large inter-class margins.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still leaks through the supervised signal; nothing forbids it explicitly.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32588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508760"/>
            <a:ext cx="365760" cy="36576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0712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67912" y="1490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198424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TDGAN · Cross-VAE · Identity-aware GAN aug.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out identity by reconstructing identity-free images via expression–identity transfer.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artefacts on hard subjects make expression features brittle in the wild.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52744" y="132588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1508760"/>
            <a:ext cx="365760" cy="365760"/>
          </a:xfrm>
          <a:prstGeom prst="ellipse">
            <a:avLst/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35624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92824" y="1490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Information-Theoretic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53912" y="198424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(this work)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53912" y="2331720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entirely on low-dimensional latent codes — no generation, no reconstruction.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removed by constraining what information the expression encoder may share.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53912" y="4206240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IN THIS WORK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Information-Theoretic Foundation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information, the Donsker–Varadhan bound, and the MINE estimator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34416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∬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log [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))]   d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34416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DONSKER–VARADHAN DUAL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4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sup</a:t>
            </a:r>
            <a:r>
              <a:rPr lang="en-US" sz="14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𝔼</a:t>
            </a:r>
            <a:r>
              <a:rPr lang="en-US" sz="14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− log 𝔼</a:t>
            </a:r>
            <a:r>
              <a:rPr lang="en-US" sz="14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400" i="1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2441448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ESTIMATOR — neural lower bound on I(X;Y)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7863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Î(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𝔼</a:t>
            </a:r>
            <a:r>
              <a:rPr lang="en-US" sz="15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p(x,y)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5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] − log 𝔼</a:t>
            </a:r>
            <a:r>
              <a:rPr lang="en-US" sz="15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p(x)p(y)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exp( 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5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15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5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)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685032"/>
            <a:ext cx="365760" cy="36576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baseline="3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(G)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Î(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200" i="1" baseline="-4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between paired expression embeddings.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3685032"/>
            <a:ext cx="365760" cy="365760"/>
          </a:xfrm>
          <a:prstGeom prst="ellipse">
            <a:avLst/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036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baseline="300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(L)</a:t>
            </a:r>
            <a:r>
              <a:rPr lang="en-US" sz="12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(1/</a:t>
            </a:r>
            <a:r>
              <a:rPr lang="en-US" sz="1200" i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2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Σ Î(</a:t>
            </a:r>
            <a:r>
              <a:rPr lang="en-US" sz="1200" i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200" i="1" baseline="-400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2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00" i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N̂</a:t>
            </a:r>
            <a:r>
              <a:rPr lang="en-US" sz="1200" baseline="300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(i)</a:t>
            </a:r>
            <a:r>
              <a:rPr lang="en-US" sz="12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shared content across spatial locations.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F53F5C1-238C-939B-C244-A642968E2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2" y="1609344"/>
            <a:ext cx="3749368" cy="5303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2D5413C-93C3-4951-A858-823024FBC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785" y="1699835"/>
            <a:ext cx="3081230" cy="3392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B0E18DC-3247-1CA6-A0F2-86ABA4220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622" y="2652515"/>
            <a:ext cx="5837052" cy="58370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B76FB26-63B3-D7B4-7EDC-614EB1DF1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9" y="3892354"/>
            <a:ext cx="1819096" cy="3168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490C403-1E83-31B0-B3EA-186B39B191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3835908"/>
            <a:ext cx="1479921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Expression Representation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swap mechanism forces subject-invariant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329184" cy="329184"/>
          </a:xfrm>
          <a:prstGeom prst="ellipse">
            <a:avLst/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353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inputs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6276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(M, N) — two different subjects showing the same expression. Expression slot should be shared; identity slot is exclusive.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514600"/>
            <a:ext cx="329184" cy="329184"/>
          </a:xfrm>
          <a:prstGeom prst="ellipse">
            <a:avLst/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72491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must make </a:t>
            </a:r>
            <a:r>
              <a:rPr lang="en-US" sz="10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050" i="1" baseline="-4000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05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behave consistently when its identity partition is replaced by that of </a:t>
            </a:r>
            <a:r>
              <a:rPr lang="en-US" sz="10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05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non-trivial constraint.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611880"/>
            <a:ext cx="329184" cy="329184"/>
          </a:xfrm>
          <a:prstGeom prst="ellipse">
            <a:avLst/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L₁ consistency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82219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L₁ term penalises drift under a tiny input perturbation, preventing latent collapse without affecting peak accuracy.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8016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82312" y="134416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7  —  CROSS-REFERENCED MI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4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μ</a:t>
            </a:r>
            <a:r>
              <a:rPr lang="en-US" sz="14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Î(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ν</a:t>
            </a:r>
            <a:r>
              <a:rPr lang="en-US" sz="14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4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228600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82312" y="235000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8  —  L₁ CONSISTENCY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25603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4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L₁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δ ‖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</a:t>
            </a:r>
            <a:r>
              <a:rPr lang="en-US" sz="14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3291840"/>
            <a:ext cx="4023360" cy="1188720"/>
          </a:xfrm>
          <a:prstGeom prst="roundRect">
            <a:avLst>
              <a:gd name="adj" fmla="val 5385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82312" y="335584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9  —  STAGE 1 OBJECTIVE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6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6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16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6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6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</a:t>
            </a:r>
            <a:r>
              <a:rPr lang="en-US" sz="16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r>
              <a:rPr lang="en-US" sz="16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6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6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82312" y="335584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9  —  STAGE 1 OBJECTIVE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700" baseline="-400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7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1700" i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700" baseline="300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700" i="1" baseline="-400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</a:t>
            </a:r>
            <a:r>
              <a:rPr lang="en-US" sz="17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r>
              <a:rPr lang="en-US" sz="1700" i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700" baseline="300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700" i="1" baseline="-400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L₁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15C279A-0313-A4A0-D658-F318EE89C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523" y="1699623"/>
            <a:ext cx="2746364" cy="38637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B70B380-B2C3-1758-D139-5A1816EEE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002" y="2705111"/>
            <a:ext cx="1733605" cy="36333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D46454F-9A47-A9DD-AB6B-6757DFAC7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002" y="3903987"/>
            <a:ext cx="1860968" cy="366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Identity Disentanglement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expression encoder + adversarial identity branch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898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93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3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87452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9293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441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27889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300" i="1" baseline="-40000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0520" y="18745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9293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441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60520" y="2788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3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39696" y="2308860"/>
            <a:ext cx="2926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31336" y="2308860"/>
            <a:ext cx="2926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" y="356616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39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3639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θI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</a:t>
            </a:r>
            <a:r>
              <a:rPr lang="en-US" sz="14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4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slot must share no information with the expression slot.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49240" y="1280160"/>
            <a:ext cx="3291840" cy="1097280"/>
          </a:xfrm>
          <a:prstGeom prst="roundRect">
            <a:avLst>
              <a:gd name="adj" fmla="val 5833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13832" y="134416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11  —  ADVERSARIAL LOSS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155448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25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</a:t>
            </a:r>
            <a:r>
              <a:rPr lang="en-US" sz="125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𝔼</a:t>
            </a:r>
            <a:r>
              <a:rPr lang="en-US" sz="125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</a:t>
            </a:r>
            <a:r>
              <a:rPr lang="en-US" sz="125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[log </a:t>
            </a:r>
            <a:r>
              <a:rPr lang="en-US" sz="125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25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en-US" sz="125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+ 𝔼</a:t>
            </a:r>
            <a:r>
              <a:rPr lang="en-US" sz="125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</a:t>
            </a:r>
            <a:r>
              <a:rPr lang="en-US" sz="125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[log(1 − </a:t>
            </a:r>
            <a:r>
              <a:rPr lang="en-US" sz="125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25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en-US" sz="125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)]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49240" y="2468880"/>
            <a:ext cx="3291840" cy="1097280"/>
          </a:xfrm>
          <a:prstGeom prst="roundRect">
            <a:avLst>
              <a:gd name="adj" fmla="val 5833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13832" y="253288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12  —  MINIMAX OBJECTIVE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274320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r>
              <a:rPr lang="en-US" sz="13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θI</a:t>
            </a:r>
            <a:r>
              <a:rPr lang="en-US" sz="13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max</a:t>
            </a:r>
            <a:r>
              <a:rPr lang="en-US" sz="13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en-US" sz="13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</a:t>
            </a:r>
            <a:r>
              <a:rPr lang="en-US" sz="13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3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r>
              <a:rPr lang="en-US" sz="13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</a:t>
            </a:r>
            <a:r>
              <a:rPr lang="en-US" sz="13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ζ</a:t>
            </a:r>
            <a:r>
              <a:rPr lang="en-US" sz="1300" baseline="3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</a:t>
            </a:r>
            <a:r>
              <a:rPr lang="en-US" sz="13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3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r>
              <a:rPr lang="en-US" sz="1300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49240" y="36576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712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adversarial?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9319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Minimising the Donsker–Varadhan lower bound directly saturates the statistics network. The discriminator avoids these divergence problems.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DD29D52-3F19-A957-5254-4E2796260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646040"/>
            <a:ext cx="1283208" cy="35087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940382-4AF2-7637-36D9-C4AA5756A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733659"/>
            <a:ext cx="3291840" cy="37621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D2B02EA-FB90-424C-26D4-14F04DD33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696" y="2929114"/>
            <a:ext cx="2326368" cy="442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preprocessing, and evaluation protocol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CK+ Extended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06654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Cohn–Kanade extended  ·  primary benchmark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14401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17420" y="2423160"/>
            <a:ext cx="14401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7420" y="24688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17420" y="288036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classes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· contempt · disgust · fear · happy · sad · surprise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2971800" cy="365760"/>
          </a:xfrm>
          <a:prstGeom prst="roundRect">
            <a:avLst>
              <a:gd name="adj" fmla="val 12500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77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subject-disjoint cross-validation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128016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60520" y="14173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60520" y="16459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processing applied before training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2026049"/>
            <a:ext cx="274320" cy="2743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0" y="20260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1993392"/>
            <a:ext cx="182880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MTCNN face detection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1993392"/>
            <a:ext cx="196596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facial landmarks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2365683"/>
            <a:ext cx="274320" cy="2743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06240" y="23656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2333026"/>
            <a:ext cx="182880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transform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2240" y="2333026"/>
            <a:ext cx="196596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eye-line horizontal, inter-ocular normalised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2705318"/>
            <a:ext cx="274320" cy="2743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06240" y="27053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2672661"/>
            <a:ext cx="182880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Whitening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92240" y="2672661"/>
            <a:ext cx="196596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zero-mean, unit variance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3044952"/>
            <a:ext cx="274320" cy="2743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0624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17720" y="3012295"/>
            <a:ext cx="182880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Resize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92240" y="3012295"/>
            <a:ext cx="196596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× 112 single-channel greyscale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0" y="3384586"/>
            <a:ext cx="274320" cy="2743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206240" y="33845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3351929"/>
            <a:ext cx="182880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92240" y="3351929"/>
            <a:ext cx="196596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transforms, random per-batch subset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06240" y="3724221"/>
            <a:ext cx="274320" cy="274320"/>
          </a:xfrm>
          <a:prstGeom prst="ellipse">
            <a:avLst/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06240" y="37242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3691563"/>
            <a:ext cx="182880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sampling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0" y="3691563"/>
            <a:ext cx="196596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same-expression, different-subject pairs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06240" y="4063855"/>
            <a:ext cx="274320" cy="2743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206240" y="40638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17720" y="4031198"/>
            <a:ext cx="182880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92240" y="4031198"/>
            <a:ext cx="1965960" cy="33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subject-disjoint CV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 &amp; Hyperparameters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choices and training configuration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7548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173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1737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029968"/>
            <a:ext cx="438912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03120"/>
            <a:ext cx="4389120" cy="438912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03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 </a:t>
            </a:r>
            <a:r>
              <a:rPr lang="en-US" sz="11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11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103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(CASIA pretrained)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21031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5420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net (global)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5420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FC layers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34840" y="254203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980944"/>
            <a:ext cx="4389120" cy="438912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809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net (local)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FC layers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34840" y="298094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4198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Discriminator  </a:t>
            </a:r>
            <a:r>
              <a:rPr lang="en-US" sz="11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1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4198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FC layers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341985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858768"/>
            <a:ext cx="4389120" cy="438912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 </a:t>
            </a:r>
            <a:r>
              <a:rPr lang="en-US" sz="1100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1100" i="1" baseline="-400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8587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FC hidden + softmax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34840" y="385876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40680" y="1280160"/>
            <a:ext cx="3200400" cy="3154680"/>
          </a:xfrm>
          <a:prstGeom prst="roundRect">
            <a:avLst>
              <a:gd name="adj" fmla="val 2319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4173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1737360"/>
            <a:ext cx="2834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80 / 50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623560" y="2103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 ·  Stage 1 / Stage 2 / Classifier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= 1 × 10⁻⁴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23560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3127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</a:t>
            </a:r>
            <a:r>
              <a:rPr lang="en-US" sz="1200" baseline="3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</a:t>
            </a:r>
            <a:r>
              <a:rPr lang="en-US" sz="1200" baseline="3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69480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</a:t>
            </a:r>
            <a:r>
              <a:rPr lang="en-US" sz="1200" baseline="3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n-US" sz="12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</a:t>
            </a:r>
            <a:r>
              <a:rPr lang="en-US" sz="1200" baseline="3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6948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0" y="3675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69480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ζ</a:t>
            </a:r>
            <a:r>
              <a:rPr lang="en-US" sz="1200" baseline="30000" dirty="0">
                <a:solidFill>
                  <a:srgbClr val="2C3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6948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23560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dim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69480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Accuracy on CK+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model vs. paper-reported and a strong baseline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80160"/>
          <a:ext cx="5166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28016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62472" y="140817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10-FOLD CV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62472" y="17007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75704" y="170078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87184" y="17007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44384" y="170078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55864" y="17007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62472" y="1956816"/>
            <a:ext cx="2414016" cy="0"/>
          </a:xfrm>
          <a:prstGeom prst="line">
            <a:avLst/>
          </a:prstGeom>
          <a:noFill/>
          <a:ln w="6350">
            <a:solidFill>
              <a:srgbClr val="D7DC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62472" y="20116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75704" y="2011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87184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44384" y="2011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055864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25896" y="2395728"/>
            <a:ext cx="2487168" cy="365760"/>
          </a:xfrm>
          <a:prstGeom prst="rect">
            <a:avLst/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62472" y="23957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75704" y="2395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95.40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187184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644384" y="2395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055864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62472" y="277977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75704" y="27797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97.39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187184" y="27797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44384" y="27797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055864" y="27797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897880" y="35204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0350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4.10%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60350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from paper-reported 99.50%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Disentanglement Quality (MIG)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Mutual-Information Gap on CK+ — higher is better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80160"/>
          <a:ext cx="55778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2801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0.582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26364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MIG score on CK+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Paper-reported: 0.592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283464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28232" y="29443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28232" y="3182112"/>
            <a:ext cx="2048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0.01 gap is within run-to-run variance — consistent with a correctly implemented MI objective, statistics-network init aside.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each component confirms the swap mechanism as the biggest contributor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188720"/>
          <a:ext cx="58521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18872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2801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−8.30%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0" y="17190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swap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83680" y="19659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drop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237744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4688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−2.35%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29077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L₁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0" y="31546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not accuracy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0" y="356616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93408" y="365760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≈ Local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93408" y="39319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MI terms contribute independently and approximately additively; global slightly stronger on CK+.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Performance (Fold 7)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concentrated on sad / disgust — visually similar expressions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14173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86000" y="14173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51760" y="14173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3280" y="14173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749040" y="14173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54480" y="1124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801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532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898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264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630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9959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4531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801368"/>
            <a:ext cx="365760" cy="365760"/>
          </a:xfrm>
          <a:prstGeom prst="rect">
            <a:avLst/>
          </a:prstGeom>
          <a:solidFill>
            <a:srgbClr val="0E9C8C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920240" y="18013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18013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18013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0" y="18013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18013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18013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54480" y="21671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0240" y="2167128"/>
            <a:ext cx="365760" cy="365760"/>
          </a:xfrm>
          <a:prstGeom prst="rect">
            <a:avLst/>
          </a:prstGeom>
          <a:solidFill>
            <a:srgbClr val="0E9C8C">
              <a:alpha val="39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286000" y="21671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51760" y="21671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17520" y="21671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21671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49040" y="21671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554480" y="253288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920240" y="253288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0" y="2532888"/>
            <a:ext cx="365760" cy="365760"/>
          </a:xfrm>
          <a:prstGeom prst="rect">
            <a:avLst/>
          </a:prstGeom>
          <a:solidFill>
            <a:srgbClr val="0E9C8C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651760" y="253288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5176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017520" y="253288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383280" y="253288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49040" y="253288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554480" y="289864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920240" y="289864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2024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0" y="289864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651760" y="2898648"/>
            <a:ext cx="365760" cy="365760"/>
          </a:xfrm>
          <a:prstGeom prst="rect">
            <a:avLst/>
          </a:prstGeom>
          <a:solidFill>
            <a:srgbClr val="0E9C8C">
              <a:alpha val="59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5176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3017520" y="289864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383280" y="289864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8328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749040" y="289864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4904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554480" y="326440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920240" y="326440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202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286000" y="326440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651760" y="326440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5176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017520" y="3264408"/>
            <a:ext cx="365760" cy="365760"/>
          </a:xfrm>
          <a:prstGeom prst="rect">
            <a:avLst/>
          </a:prstGeom>
          <a:solidFill>
            <a:srgbClr val="0E9C8C">
              <a:alpha val="69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1752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3383280" y="326440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832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749040" y="326440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490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920240" y="36301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2024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286000" y="3630168"/>
            <a:ext cx="365760" cy="365760"/>
          </a:xfrm>
          <a:prstGeom prst="rect">
            <a:avLst/>
          </a:prstGeom>
          <a:solidFill>
            <a:srgbClr val="1B223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600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2651760" y="36301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65176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017520" y="36301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01752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3630168"/>
            <a:ext cx="365760" cy="365760"/>
          </a:xfrm>
          <a:prstGeom prst="rect">
            <a:avLst/>
          </a:prstGeom>
          <a:solidFill>
            <a:srgbClr val="0E9C8C">
              <a:alpha val="2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8328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3749040" y="363016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4904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554480" y="39959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920240" y="39959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9202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2286000" y="39959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28600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2651760" y="39959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6517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017520" y="39959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01752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3383280" y="3995928"/>
            <a:ext cx="365760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3832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749040" y="3995928"/>
            <a:ext cx="365760" cy="365760"/>
          </a:xfrm>
          <a:prstGeom prst="rect">
            <a:avLst/>
          </a:prstGeom>
          <a:solidFill>
            <a:srgbClr val="0E9C8C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7490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150" dirty="0"/>
          </a:p>
        </p:txBody>
      </p:sp>
      <p:sp>
        <p:nvSpPr>
          <p:cNvPr id="119" name="Shape 117"/>
          <p:cNvSpPr/>
          <p:nvPr/>
        </p:nvSpPr>
        <p:spPr>
          <a:xfrm>
            <a:off x="1554480" y="1801368"/>
            <a:ext cx="256032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440680" y="128016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6F7F9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605272" y="138988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5605272" y="1645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Sadness → Disgust</a:t>
            </a:r>
            <a:endParaRPr lang="en-US" sz="1700" dirty="0"/>
          </a:p>
        </p:txBody>
      </p:sp>
      <p:sp>
        <p:nvSpPr>
          <p:cNvPr id="123" name="Text 121"/>
          <p:cNvSpPr/>
          <p:nvPr/>
        </p:nvSpPr>
        <p:spPr>
          <a:xfrm>
            <a:off x="5605272" y="202996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 sadness samples are predicted as disgust — the two share lowered brow and lip configuration, making them the hardest pair on CK+.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5440680" y="283464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5605272" y="294436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CLASSES THIS FOLD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5605272" y="3218688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6400800" y="32186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18/18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7040880" y="3218688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Contempt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7836408" y="32186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5605272" y="3602736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6400800" y="360273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18/18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7040880" y="3602736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7836408" y="360273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5605272" y="3986784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6400800" y="39867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7040880" y="3986784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7836408" y="39867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21/21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matched, where the gap came from, what made it hard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679192" cy="33375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matched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27832" y="1280160"/>
            <a:ext cx="2679192" cy="3337560"/>
          </a:xfrm>
          <a:prstGeom prst="roundRect">
            <a:avLst>
              <a:gd name="adj" fmla="val 2730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463040"/>
            <a:ext cx="365760" cy="365760"/>
          </a:xfrm>
          <a:prstGeom prst="ellipse">
            <a:avLst/>
          </a:prstGeom>
          <a:solidFill>
            <a:srgbClr val="0E9C8C"/>
          </a:solidFill>
          <a:ln w="12700">
            <a:solidFill>
              <a:srgbClr val="0E9C8C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071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67912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(−4.10%)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52744" y="1280160"/>
            <a:ext cx="2679192" cy="33375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778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463040"/>
            <a:ext cx="365760" cy="36576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3562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92824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2286000"/>
            <a:ext cx="22768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mechanism is the single largest contributor to accuracy.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stabilises training without strongly affecting peak accuracy.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and local MI contribute independently and additively.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hold consistently across all ten cross-validation folds.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2860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76472" y="228600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CK+ variant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254203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 images / 327 subjects vs. 500-image subset used by the authors.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30540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(ii)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76472" y="3054096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CASIA weights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331012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pretrained checkpoint not released by the authors.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38221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(iii)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76472" y="38221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net spec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407822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under-specified — our choices may differ.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53912" y="228600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was the practical bottleneck.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2596896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minimax objective is sensitive to the relative update frequency of the discriminator and the identity encoder.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53912" y="3474720"/>
            <a:ext cx="2276856" cy="777240"/>
          </a:xfrm>
          <a:prstGeom prst="roundRect">
            <a:avLst>
              <a:gd name="adj" fmla="val 5882"/>
            </a:avLst>
          </a:prstGeom>
          <a:solidFill>
            <a:srgbClr val="E3F4F1"/>
          </a:solidFill>
          <a:ln w="12700">
            <a:solidFill>
              <a:srgbClr val="0E9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3529584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: 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58584" y="3529584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vs. encoder updates per step — the ratio that stabilised training.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53912" y="43159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6 GB RTX 3050 — limits in-the-wild eval to CK+ only.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Reproduction  ·  EE656 Deep Learning  ·  IIT Kanpur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329184" cy="329184"/>
          </a:xfrm>
          <a:prstGeom prst="ellipse">
            <a:avLst/>
          </a:prstGeom>
          <a:solidFill>
            <a:srgbClr val="1B2230"/>
          </a:solidFill>
          <a:ln w="15875">
            <a:solidFill>
              <a:srgbClr val="0E9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0722" y="502920"/>
            <a:ext cx="329184" cy="329184"/>
          </a:xfrm>
          <a:prstGeom prst="ellipse">
            <a:avLst/>
          </a:prstGeom>
          <a:solidFill>
            <a:srgbClr val="1B2230"/>
          </a:solidFill>
          <a:ln w="15875">
            <a:solidFill>
              <a:srgbClr val="0E9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39319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600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393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DICE-FER  ·  Reproduced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principled, label-free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</a:t>
            </a:r>
            <a:r>
              <a:rPr lang="en-US" sz="3000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generative disentanglement.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C3645"/>
          </a:solidFill>
          <a:ln w="9525">
            <a:solidFill>
              <a:srgbClr val="3A4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850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CK+ · 10-fold CV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26060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C3645"/>
          </a:solidFill>
          <a:ln w="9525">
            <a:solidFill>
              <a:srgbClr val="3A4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2743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273552" y="3429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disentanglement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73552" y="36850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0.592 paper-reported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44184" y="26060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2C3645"/>
          </a:solidFill>
          <a:ln w="9525">
            <a:solidFill>
              <a:srgbClr val="3A4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2743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9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−8.30%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044184" y="3429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swap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44184" y="36850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contributor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Mutual-information estimation faithfully reproduces the qualitative behavior of DICE-FER while sidestepping reconstruction-based generative training.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Patil  ·  Raj Choudhary  ·  Shivang Mishra  ·  Khushi Sharma  ·  Vineet Singh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1623</Words>
  <Application>Microsoft Office PowerPoint</Application>
  <PresentationFormat>On-screen Show (16:9)</PresentationFormat>
  <Paragraphs>392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DICE-FER Reproduction Study</dc:title>
  <dc:subject>PptxGenJS Presentation</dc:subject>
  <dc:creator>Ritesh Patil, Raj Choudhary, Shivang Mishra, Khushi Sharma, Vineet Singh</dc:creator>
  <cp:lastModifiedBy>ritesh patil</cp:lastModifiedBy>
  <cp:revision>2</cp:revision>
  <dcterms:created xsi:type="dcterms:W3CDTF">2026-06-29T10:11:02Z</dcterms:created>
  <dcterms:modified xsi:type="dcterms:W3CDTF">2026-06-29T10:28:46Z</dcterms:modified>
</cp:coreProperties>
</file>